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51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singkat: nama, role yang dilamar, dan satu kalimat problem statement sebelum masuk ke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live demo di sini. Siapkan 4 skenario: baseline dapur, in-scope (warna keramik), out-of-scope (lampu taman), ambiguous (keramik ke granit). Setelah demo, siap untuk live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comprehensive-guide-to-construction-disputes-and-claims-in-bali/28931791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DIGITAL — STAGE 2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Guard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131020"/>
            <a:ext cx="78486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tool that catches scope creep before it becomes a dispute — built for homeowners and small contractors in Indonesian residential construction.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549999"/>
            <a:ext cx="295160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Lukman Indro Prakoso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849640"/>
            <a:ext cx="295160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Solutions Engineer — Stage 2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9388" y="5849640"/>
            <a:ext cx="286320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Input → AI Processing → Useful Output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PROBLEM &amp;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construction </a:t>
            </a:r>
            <a:r>
              <a:rPr lang="en-US" sz="3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run on trust, not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876"/>
            <a:ext cx="5175250" cy="1316930"/>
          </a:xfrm>
          <a:prstGeom prst="roundRect">
            <a:avLst>
              <a:gd name="adj" fmla="val 7474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890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434431"/>
            <a:ext cx="48007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lack the technical knowledge to judge if an added request is genuinely extra — feel contractors inflate costs or stall progress.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775" y="1831876"/>
            <a:ext cx="5175250" cy="1316930"/>
          </a:xfrm>
          <a:prstGeom prst="roundRect">
            <a:avLst>
              <a:gd name="adj" fmla="val 7474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0890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contractors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7950" y="2434431"/>
            <a:ext cx="48007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scope creep from ambiguous verbal instructions, and delayed payment when owners dispute quality or progress.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405981"/>
            <a:ext cx="10566400" cy="635000"/>
          </a:xfrm>
          <a:prstGeom prst="roundRect">
            <a:avLst>
              <a:gd name="adj" fmla="val 16000"/>
            </a:avLst>
          </a:prstGeom>
          <a:solidFill>
            <a:srgbClr val="16213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609181"/>
            <a:ext cx="10360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pattern:</a:t>
            </a:r>
            <a:r>
              <a:rPr lang="en-US" sz="12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 ambiguity, scope creep, milestone disputes, and no structured way to confirm a change before it becomes a fight.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says — and how sure I 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35695"/>
            <a:ext cx="10560050" cy="819150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616670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B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confidence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71750" y="1616670"/>
            <a:ext cx="885583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2025–2026 Indonesian legal/practitioner sources consistently name unclear contracts, unapproved scope creep, and payment disputes as major drivers — pattern holds, though several sources skew toward Bali expat-investor projects.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2388195"/>
            <a:ext cx="10560050" cy="819150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569170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1750" y="2569170"/>
            <a:ext cx="885583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frequency stats (~45%, ~60% of projects disputed) trace back to secondary citations in university OJS journals — source tier and methodology unverified. Treated as indicative, not citable.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4391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gap: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law firms offer templates and reactive dispute resolution — expensive, not built for low-value residential jobs. No low-friction tool helps both sides co-create scope and evaluate changes as they come up.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56040"/>
            <a:ext cx="569452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1100" u="sng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SlideShare — Comprehensive Guide to Construction Disputes and Claims in Bali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ANALYSIS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ideas rejected before this one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22041"/>
          <a:ext cx="10566400" cy="2516188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2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rejected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risk-analyzer (rebuild prior work)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Single-sided — only helps the document holder. Closer to improving an old feature than fresh problem-solving.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contract generator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Indistinguishable from asking ChatGPT directly unless heavily differentiated — high risk of reading as a thin wrapper.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Franchise contract risk-checker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Two-sided in theory, but the franchisor has no natural incentive to use a tool exposing its own unfavorable clauses.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 scope / change-order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1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Genuinely two-sided and collaborative — both parties benefit from clarity. Domain named explicitly in the brief.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4128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assumption: most disputes are triggered at the </a:t>
            </a: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of change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mid-project, not by the original agreement itself — so that is where the AI should focus.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SOLUTION &amp;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chat, two roles, two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72841"/>
            <a:ext cx="5181600" cy="1607741"/>
          </a:xfrm>
          <a:prstGeom prst="roundRect">
            <a:avLst>
              <a:gd name="adj" fmla="val 6319"/>
            </a:avLst>
          </a:prstGeom>
          <a:solidFill>
            <a:srgbClr val="16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26841"/>
            <a:ext cx="481380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Baseline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6800" y="232400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party describes the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669381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message — price, timeline, work items. AI extracts a structured baseline: scope items, exclusions, price, timeline.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772841"/>
            <a:ext cx="5181600" cy="1607741"/>
          </a:xfrm>
          <a:prstGeom prst="roundRect">
            <a:avLst>
              <a:gd name="adj" fmla="val 6319"/>
            </a:avLst>
          </a:prstGeom>
          <a:solidFill>
            <a:srgbClr val="16213D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2026841"/>
            <a:ext cx="481380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B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Change evaluation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51600" y="2324001"/>
            <a:ext cx="48138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later message is checked against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1600" y="2669381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classifies: in-scope, out-of-scope, ambiguous, or unrelated — and asks a targeted question when it genuinely can't tell.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634581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role-toggle chat (Homeowner / Contractor) stands in for two real users — deliberate demo simplification, explained in Slide 8.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outcomes for every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432520"/>
            <a:ext cx="5207000" cy="108704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00" y="1432520"/>
            <a:ext cx="0" cy="1087041"/>
          </a:xfrm>
          <a:prstGeom prst="line">
            <a:avLst/>
          </a:prstGeom>
          <a:noFill/>
          <a:ln w="50800">
            <a:solidFill>
              <a:srgbClr val="4FB8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163572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1925241"/>
            <a:ext cx="48922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within an already-agreed item — no cost impact. Confirmed briefly, no drama.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32520"/>
            <a:ext cx="5207000" cy="108704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600" y="1432520"/>
            <a:ext cx="0" cy="1087041"/>
          </a:xfrm>
          <a:prstGeom prst="line">
            <a:avLst/>
          </a:prstGeom>
          <a:noFill/>
          <a:ln w="50800">
            <a:solidFill>
              <a:srgbClr val="D96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200" y="163572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6200" y="1925241"/>
            <a:ext cx="48922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new item, absent from baseline. Flagged as additional — no invented cost figure.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800" y="2671961"/>
            <a:ext cx="5207000" cy="108704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" y="2671961"/>
            <a:ext cx="0" cy="1087041"/>
          </a:xfrm>
          <a:prstGeom prst="line">
            <a:avLst/>
          </a:prstGeom>
          <a:noFill/>
          <a:ln w="508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287516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6800" y="3164681"/>
            <a:ext cx="48922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Modifies an existing item in a way that may change cost — e.g. keramik → granit. Triggers a specific clarifying question.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671961"/>
            <a:ext cx="5207000" cy="108704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7600" y="2671961"/>
            <a:ext cx="0" cy="1087041"/>
          </a:xfrm>
          <a:prstGeom prst="line">
            <a:avLst/>
          </a:prstGeom>
          <a:noFill/>
          <a:ln w="50800">
            <a:solidFill>
              <a:srgbClr val="8D95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287516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scope-related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6200" y="3164681"/>
            <a:ext cx="48922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Greetings, thanks, status chat. Answered naturally — never forced into scope talk.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800" y="3987602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rule: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model reasons about substance, not keyword match — "ganti keramik dinding" → "ganti jadi granit" is </a:t>
            </a: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</a:t>
            </a: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in-scope, even though the same words appear.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AI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webhook, one branch point, two AI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50616"/>
            <a:ext cx="3249017" cy="717451"/>
          </a:xfrm>
          <a:prstGeom prst="roundRect">
            <a:avLst>
              <a:gd name="adj" fmla="val 1017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70609" y="1906191"/>
            <a:ext cx="5397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48185" y="2152551"/>
            <a:ext cx="584597" cy="1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toggle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69767" y="1967111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7742" y="1750616"/>
            <a:ext cx="3249116" cy="717451"/>
          </a:xfrm>
          <a:prstGeom prst="roundRect">
            <a:avLst>
              <a:gd name="adj" fmla="val 1017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0565" y="1906191"/>
            <a:ext cx="94337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webhook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16153" y="2152551"/>
            <a:ext cx="1372295" cy="1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session_id, role, message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31634" y="1967111"/>
            <a:ext cx="254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6434" y="1753791"/>
            <a:ext cx="3242766" cy="711101"/>
          </a:xfrm>
          <a:prstGeom prst="roundRect">
            <a:avLst>
              <a:gd name="adj" fmla="val 10716"/>
            </a:avLst>
          </a:prstGeom>
          <a:solidFill>
            <a:srgbClr val="16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9223970" y="1906191"/>
            <a:ext cx="106759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Airtable lookup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5769" y="2152551"/>
            <a:ext cx="864096" cy="1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exists?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9150" y="2706191"/>
            <a:ext cx="5194300" cy="995660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12700">
            <a:solidFill>
              <a:srgbClr val="4FB8A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03300" y="2890341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D8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 → Stage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3300" y="3162102"/>
            <a:ext cx="4970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agent extracts scope JSON → parsed and validated in code → saved to Airtable → confirmation reply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8550" y="2706191"/>
            <a:ext cx="5194300" cy="995660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62700" y="2890341"/>
            <a:ext cx="497078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exists → Stage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2700" y="3162102"/>
            <a:ext cx="4970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parsed from Airtable → Gemini agent classifies message → out-of-scope/ambiguous logged as change requests → reply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2800" y="3936802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involvement:</a:t>
            </a: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ambiguous case stops at a clarifying question — the AI never silently decides a cost or scope change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BUILD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→ Plan → Build → Test, in 8 hours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50616"/>
            <a:ext cx="2540000" cy="125095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1906191"/>
            <a:ext cx="22957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1550" y="2134791"/>
            <a:ext cx="2295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for grounded search on Indonesian construction disputes; cross-checked source tiers before trusting a stat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89325" y="1750616"/>
            <a:ext cx="2540000" cy="125095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4900" y="1906191"/>
            <a:ext cx="22957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44900" y="2134791"/>
            <a:ext cx="229571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for scoping trade-offs, rejecting weaker ideas, and locking the two-stage architecture before writing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2675" y="1750616"/>
            <a:ext cx="2540000" cy="125095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250" y="1906191"/>
            <a:ext cx="22957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18250" y="2134791"/>
            <a:ext cx="2295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for the chat UI; n8n + Gemini for the workflow; Claude-written prompts for extraction and classification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36025" y="1750616"/>
            <a:ext cx="2540000" cy="125095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1600" y="1906191"/>
            <a:ext cx="22957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refine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91600" y="2134791"/>
            <a:ext cx="229571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scenario testing including an adversarial case (keramik → granit) to check for keyword-only classification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2800" y="3233341"/>
            <a:ext cx="10566400" cy="887710"/>
          </a:xfrm>
          <a:prstGeom prst="roundRect">
            <a:avLst>
              <a:gd name="adj" fmla="val 11445"/>
            </a:avLst>
          </a:prstGeom>
          <a:solidFill>
            <a:srgbClr val="16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3436541"/>
            <a:ext cx="1036015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judgment mattered, not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6800" y="3708301"/>
            <a:ext cx="1036015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Stage 1 (baseline intake) deliberately thin — structured form, not conversational — to protect build time for Stage 2, the actual differentiator.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COLLABORATION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PM, Designer and Developer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50616"/>
            <a:ext cx="3380284" cy="159891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1982391"/>
            <a:ext cx="300423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B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7750" y="2279551"/>
            <a:ext cx="300423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real contractor/homeowner interviews to refine classification edge cases — the model's judgment is only as good as the examples it's tuned 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5809" y="1750616"/>
            <a:ext cx="3380383" cy="159891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584" y="1982391"/>
            <a:ext cx="300433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7584" y="2279551"/>
            <a:ext cx="3004338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change-order confirmation UX — making an ambiguous classification feel like a quick nudge, not a legal notice.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95741" y="1750616"/>
            <a:ext cx="3380284" cy="159891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516" y="1982391"/>
            <a:ext cx="300423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7516" y="2279551"/>
            <a:ext cx="3004236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the n8n pipeline — moves the transport layer toward WhatsApp Business API, adds retry/observability around the AI agent calls.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3581301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contract: the JSON schema (scope items, classification, reply) is the interface all three roles design against — it stays stable even as the transport layer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BIGGEST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silent failure loop, caught before the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1193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8200" y="1747441"/>
            <a:ext cx="95491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DE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branch of two validation checks was wired back into the same AI agent instead of an error response — a parsing failure would have retried silently forever, leaving the chat UI stuck loading with no response ever sent back.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31641"/>
            <a:ext cx="1193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B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8200" y="2331641"/>
            <a:ext cx="95491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DE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kind of failure the brief tests for live — an edge case that only surfaces when something goes wrong mid-demo, not during a happy-path run-through.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15841"/>
            <a:ext cx="1193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improve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8200" y="2915841"/>
            <a:ext cx="95491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DE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error states on every branch from the start, not added after the fact — I'd caught the same class of bug in an earlier project and should have checked for it from the first workflow diagram.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IMPACT &amp; 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50616"/>
            <a:ext cx="3380284" cy="1522710"/>
          </a:xfrm>
          <a:prstGeom prst="roundRect">
            <a:avLst>
              <a:gd name="adj" fmla="val 6464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56991"/>
            <a:ext cx="30565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2350" y="2228751"/>
            <a:ext cx="30565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a small contractor network — track how often a flagged "ambiguous" case actually prevents a later dispute, not just how often the model fires.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5809" y="1750616"/>
            <a:ext cx="3380383" cy="1522710"/>
          </a:xfrm>
          <a:prstGeom prst="roundRect">
            <a:avLst>
              <a:gd name="adj" fmla="val 6464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184" y="1956991"/>
            <a:ext cx="305666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2184" y="2228751"/>
            <a:ext cx="305666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Change-order response time, and homeowner/contractor agreement rate on flagged items — leading indicators before any dispute-reduction claim.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95741" y="1750616"/>
            <a:ext cx="3380284" cy="1522710"/>
          </a:xfrm>
          <a:prstGeom prst="roundRect">
            <a:avLst>
              <a:gd name="adj" fmla="val 6464"/>
            </a:avLst>
          </a:prstGeom>
          <a:solidFill>
            <a:srgbClr val="FFFFFF"/>
          </a:solidFill>
          <a:ln w="6350">
            <a:solidFill>
              <a:srgbClr val="E3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16" y="1956991"/>
            <a:ext cx="30565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02116" y="2228751"/>
            <a:ext cx="30565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transport layer to WhatsApp Business API — target users already communicate there. The n8n webhook contract stays the same; only the front door changes.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3505101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Considered building the WhatsApp integration for this demo — rejected: unofficial WhatsApp automation is unpredictable under live conditions, and honest 8-hour scoping mattered more than an impressive but fragile add-on.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input → AI processing → useful output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560241"/>
            <a:ext cx="7848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9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scope, then three live change requests — in-scope, out-of-scope, and the ambiguous material-swap case.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27485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Guard — Lukman Indro Prakoso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63755" y="5831880"/>
            <a:ext cx="4650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anything — change a requirement, introduce an edge case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1368</Words>
  <Application>Microsoft Office PowerPoint</Application>
  <PresentationFormat>Widescreen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Guard — Stage 2 Presentation</dc:title>
  <dc:creator>Lukman</dc:creator>
  <cp:lastModifiedBy>Lukman Indro Prakoso</cp:lastModifiedBy>
  <cp:revision>2</cp:revision>
  <dcterms:created xsi:type="dcterms:W3CDTF">2026-09-22T13:25:23Z</dcterms:created>
  <dcterms:modified xsi:type="dcterms:W3CDTF">2026-09-23T09:49:12Z</dcterms:modified>
</cp:coreProperties>
</file>